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20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Indoor 3D Object Detection</a:t>
            </a:r>
            <a:endParaRPr lang="en-US" sz="32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a Single Image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371600" y="283464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MapAnything backbone + lightweight DETR head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3246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variants: Option B (deformable, multi-scale) vs Option C (vanilla, encoder-free)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RGB image in → metric 3D bounding boxes out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single-image 3D detection?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64008" cy="82296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1704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0515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image is the hardest setting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463040" y="13898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multi-view stereo, no depth sensor. MapAnything gives metric 3D from one view via learned monocular priors.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196596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1965960"/>
            <a:ext cx="64008" cy="82296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30552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63040" y="20116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MapAnything provides free 3D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463040" y="235000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pts3d, depth, rays, confidence, metric scale — all from a single forward pass. No 2D→3D lifting to learn.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48640" y="2926080"/>
            <a:ext cx="64008" cy="82296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090672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297180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DPT features are already rich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463040" y="331012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DPT head inside MapAnything fuses multi-scale tokens. We extract its intermediate features for detection.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3886200"/>
            <a:ext cx="80467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48640" y="3886200"/>
            <a:ext cx="64008" cy="822960"/>
          </a:xfrm>
          <a:prstGeom prst="rect">
            <a:avLst/>
          </a:prstGeom>
          <a:solidFill>
            <a:srgbClr val="4A90D9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050792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393192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trainable head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1463040" y="42702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~6.5–7M params to train. Freeze the 300M+ backbone entirely. Train in 8–12h on 2× A100.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Frozen MapAnything 2014 single-image pipeline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868680"/>
            <a:ext cx="8229600" cy="274320"/>
          </a:xfrm>
          <a:prstGeom prst="rect">
            <a:avLst/>
          </a:prstGeom>
          <a:solidFill>
            <a:srgbClr val="E8DED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8869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9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— no gradient, ~300M params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371600" y="1280160"/>
            <a:ext cx="5029200" cy="384048"/>
          </a:xfrm>
          <a:prstGeom prst="rect">
            <a:avLst/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129844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RGB image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48132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 × W × 3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886200" y="1664208"/>
            <a:ext cx="0" cy="100584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1783080"/>
            <a:ext cx="50292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180136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 ViT-G encoder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198424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Layer-24 patch features, 1536-dim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86200" y="2167128"/>
            <a:ext cx="0" cy="100584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0" y="2286000"/>
            <a:ext cx="5029200" cy="384048"/>
          </a:xfrm>
          <a:prstGeom prst="rect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30428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Alternating-attention transformer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248716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 = 1: self-attention only (no cross-view partner)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86200" y="2670048"/>
            <a:ext cx="0" cy="100584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0" y="2834640"/>
            <a:ext cx="5029200" cy="384048"/>
          </a:xfrm>
          <a:prstGeom prst="rect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63040" y="2852928"/>
            <a:ext cx="4846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DPT Head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3035808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Reassemble tokens → multi-scale fusion → dense H×W outputs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4400" y="33832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54F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DPT outputs: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3611880"/>
            <a:ext cx="1188720" cy="36576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611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dirs 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14400" y="37947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H×W×3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86000" y="3611880"/>
            <a:ext cx="1188720" cy="36576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3611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 depth D̃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7947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H×W×1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0" y="3611880"/>
            <a:ext cx="1188720" cy="36576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0" y="3611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0" y="37947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H×W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029200" y="3611880"/>
            <a:ext cx="1188720" cy="365760"/>
          </a:xfrm>
          <a:prstGeom prst="rect">
            <a:avLst/>
          </a:prstGeom>
          <a:solidFill>
            <a:srgbClr val="E8F0FE"/>
          </a:solidFill>
          <a:ln w="6350">
            <a:solidFill>
              <a:srgbClr val="4A90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611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Mask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379476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H×W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675120" y="2286000"/>
            <a:ext cx="1645920" cy="384048"/>
          </a:xfrm>
          <a:prstGeom prst="rect">
            <a:avLst/>
          </a:prstGeom>
          <a:solidFill>
            <a:srgbClr val="F8CECC"/>
          </a:solidFill>
          <a:ln w="6350">
            <a:solidFill>
              <a:srgbClr val="B854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30428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MLP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675120" y="248716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→ metric m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675120" y="3611880"/>
            <a:ext cx="1645920" cy="365760"/>
          </a:xfrm>
          <a:prstGeom prst="rect">
            <a:avLst/>
          </a:prstGeom>
          <a:solidFill>
            <a:srgbClr val="D5E8D4"/>
          </a:solidFill>
          <a:ln w="6350">
            <a:solidFill>
              <a:srgbClr val="82B3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63931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7A2D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pts3d = m·R·D̃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675120" y="382219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3D points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914400" y="4160520"/>
            <a:ext cx="7315200" cy="502920"/>
          </a:xfrm>
          <a:prstGeom prst="rect">
            <a:avLst/>
          </a:prstGeom>
          <a:solidFill>
            <a:srgbClr val="EEEDFE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51560" y="41879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extract: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03120" y="4187952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34A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(DPT intermediate features) + pts3d (metric 3D) + confidence (quality weights) → to detection head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BEV fails for indoor → use sparse 3D voxels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601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60120"/>
            <a:ext cx="64008" cy="658368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00584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stacking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2801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Mug on table + shoe under table → same BEV cell. Height destroyed.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737360"/>
            <a:ext cx="64008" cy="658368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78308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Height-dependent semantics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shape at 0.8 m = table, at 2.5 m = ceiling. BEV discards distinguishing axis.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514600"/>
            <a:ext cx="64008" cy="658368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6032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Non-planar layouts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8346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Stairs, lofts, multi-level shelves — all violate single ground plane.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383280"/>
            <a:ext cx="8046720" cy="822960"/>
          </a:xfrm>
          <a:prstGeom prst="rect">
            <a:avLst/>
          </a:prstGeom>
          <a:solidFill>
            <a:srgbClr val="E8F0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4290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Solution: sparse 3D voxels (128³ at 0.05 m)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77240" y="379476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3D preserved • Height axis separates stacked objects • Only 3K–15K occupied voxels per room (vs 2M total) • No encoder needed — MapAnything features are already rich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proposed architectures (single image)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7490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14400"/>
            <a:ext cx="3749040" cy="32004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32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Linear + pooling + deformable DETR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3291840" cy="4754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4356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scatter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6733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→ 128³ via pts3d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039112"/>
            <a:ext cx="3291840" cy="4754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57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Linear(D, 256)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2951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~0.1M params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77240" y="2660904"/>
            <a:ext cx="3291840" cy="4754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679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MaxPool3D ×2,×4,×8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68680" y="29169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4 scales, 0 params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77240" y="3282696"/>
            <a:ext cx="3291840" cy="4754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300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Deformable DETR ×6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68680" y="35387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K=4, S=4, 256 queries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77240" y="3904488"/>
            <a:ext cx="3291840" cy="47548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9227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Heads: box + class + score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4160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(x,y,z,w,l,h,θ) + 18cls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914400"/>
            <a:ext cx="3749040" cy="3931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914400"/>
            <a:ext cx="3749040" cy="320040"/>
          </a:xfrm>
          <a:prstGeom prst="rect">
            <a:avLst/>
          </a:prstGeom>
          <a:solidFill>
            <a:srgbClr val="2D7A2D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93268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C: Lifting + vanilla DETR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4920" y="1417320"/>
            <a:ext cx="3291840" cy="475488"/>
          </a:xfrm>
          <a:prstGeom prst="rect">
            <a:avLst/>
          </a:prstGeom>
          <a:solidFill>
            <a:srgbClr val="D5E8D4"/>
          </a:solidFill>
          <a:ln/>
        </p:spPr>
      </p:sp>
      <p:sp>
        <p:nvSpPr>
          <p:cNvPr id="25" name="Text 23"/>
          <p:cNvSpPr/>
          <p:nvPr/>
        </p:nvSpPr>
        <p:spPr>
          <a:xfrm>
            <a:off x="5166360" y="14356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Voxel scatter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166360" y="1673352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 → 128³ via pts3d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74920" y="2039112"/>
            <a:ext cx="3291840" cy="475488"/>
          </a:xfrm>
          <a:prstGeom prst="rect">
            <a:avLst/>
          </a:prstGeom>
          <a:solidFill>
            <a:srgbClr val="D5E8D4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20574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Linear(D, 256)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166360" y="2295144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~0.1M params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074920" y="2660904"/>
            <a:ext cx="3291840" cy="4754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2679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pooling)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66360" y="291693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Single scale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074920" y="3282696"/>
            <a:ext cx="3291840" cy="475488"/>
          </a:xfrm>
          <a:prstGeom prst="rect">
            <a:avLst/>
          </a:prstGeom>
          <a:solidFill>
            <a:srgbClr val="D5E8D4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33009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DETR ×6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3538728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Full cross-attn, 256 queries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74920" y="3904488"/>
            <a:ext cx="3291840" cy="475488"/>
          </a:xfrm>
          <a:prstGeom prst="rect">
            <a:avLst/>
          </a:prstGeom>
          <a:solidFill>
            <a:srgbClr val="D5E8D4"/>
          </a:solidFill>
          <a:ln/>
        </p:spPr>
      </p:sp>
      <p:sp>
        <p:nvSpPr>
          <p:cNvPr id="37" name="Text 35"/>
          <p:cNvSpPr/>
          <p:nvPr/>
        </p:nvSpPr>
        <p:spPr>
          <a:xfrm>
            <a:off x="5166360" y="39227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7A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Heads: box + class + score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4160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(x,y,z,w,l,h,θ) + 18cls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Option B vs C — detailed comparison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91440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80360"/>
                <a:gridCol w="28803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B: Deformable DETR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C: Vanilla DETR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image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DPT intermediate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DPT intermediate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scales (pool ×2,×4,×8)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Deformable (sparse)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cross-attention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 / query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𝒪(K·S·d) = 4,096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O(V·d) ≈ 50K–500K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~0.1M (linear)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~0.1M (linear)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trainable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~6.5M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variation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(multi-scale)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CUDA kernel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Pure PyTorch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for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Varied object sizes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D7A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rooms, &lt; 5K voxels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C for simplicity → upgrade to B if multi-scale needed for varied object sizes.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Lifting module — single image to 3D voxels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by both Option B and C. Required to place 2D DPT features into 3D space.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280160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2801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34440" y="123444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per-pixel 3D from MapAnything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490472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pts3d = m · R · D̃ gives metric (x,y,z) for every pixel. Single view = one 3D pointcloud.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77240" y="1938528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892808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voxel indices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voxel_idx = ⌊(pts3d − origin) / 0.05⌋.   Grid = 128³.   Range = 6.4 m per axis.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2596896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34440" y="2551176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DPT features into voxels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34440" y="28072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grid[voxel_idx] += conf · F.   Single view: each pixel → one voxel (no overlap / averaging).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255264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34440" y="3209544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projection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34440" y="3465576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nn.Linear(D, 256).   Only learnable component (~0.1M params).   Projects DPT dim to decoder dim.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77240" y="3913632"/>
            <a:ext cx="274320" cy="2743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86791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SparseTensor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234440" y="4123944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3K–15K occupied voxels per room (vs 2M total).   Ready for DETR decoder.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hyperparameters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188720"/>
                <a:gridCol w="118872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Option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 image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 image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RGB, no multi-view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DPT intermediate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DPT intermediate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transformer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 dim 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256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256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feature dim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 queries 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256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256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Decoder layers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6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6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Iterative refinement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Deformable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Full cross-attn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difference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Deformable K / scales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4 / 4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n/a / 1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Voxel grid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128³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128³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 m, 6.4 m range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params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~0.1M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~0.1M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7180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2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trainable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~7M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~6.5M</a:t>
                      </a:r>
                      <a:endParaRPr lang="en-US" sz="10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functions (same for both options)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</a:t>
            </a:r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pPr indent="0" marL="0">
              <a:buNone/>
            </a:pPr>
            <a:r>
              <a:rPr lang="en-US" sz="1600" b="1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cls</a:t>
            </a:r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</a:t>
            </a:r>
            <a:pPr indent="0" marL="0">
              <a:buNone/>
            </a:pPr>
            <a:r>
              <a:rPr lang="en-US" sz="1600" b="1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pPr indent="0" marL="0">
              <a:buNone/>
            </a:pPr>
            <a:r>
              <a:rPr lang="en-US" sz="1600" b="1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cls</a:t>
            </a:r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</a:t>
            </a:r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pPr indent="0" marL="0">
              <a:buNone/>
            </a:pPr>
            <a:r>
              <a:rPr lang="en-US" sz="1600" b="1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L1</a:t>
            </a:r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</a:t>
            </a:r>
            <a:pPr indent="0" marL="0">
              <a:buNone/>
            </a:pPr>
            <a:r>
              <a:rPr lang="en-US" sz="1600" b="1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pPr indent="0" marL="0">
              <a:buNone/>
            </a:pPr>
            <a:r>
              <a:rPr lang="en-US" sz="1600" b="1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L1</a:t>
            </a:r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</a:t>
            </a:r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pPr indent="0" marL="0">
              <a:buNone/>
            </a:pPr>
            <a:r>
              <a:rPr lang="en-US" sz="1600" b="1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giou</a:t>
            </a:r>
            <a:pPr indent="0" marL="0">
              <a:buNone/>
            </a:pPr>
            <a:r>
              <a:rPr lang="en-US" sz="16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</a:t>
            </a:r>
            <a:pPr indent="0" marL="0">
              <a:buNone/>
            </a:pPr>
            <a:r>
              <a:rPr lang="en-US" sz="1600" b="1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pPr indent="0" marL="0">
              <a:buNone/>
            </a:pPr>
            <a:r>
              <a:rPr lang="en-US" sz="1600" b="1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giou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749808"/>
          </a:xfrm>
          <a:prstGeom prst="rect">
            <a:avLst/>
          </a:prstGeom>
          <a:solidFill>
            <a:srgbClr val="E859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8988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Hungarian matching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59105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ℂ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match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cls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</a:t>
            </a:r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p̂(c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gt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+ 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L1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·‖</a:t>
            </a:r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b̂ − b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gt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‖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+ 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giou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·GIoU(</a:t>
            </a:r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b̂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gt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86537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1-to-1 assignment. λ = 2, 5, 2.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240280"/>
            <a:ext cx="64008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5856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loss (classification)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245973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cls</a:t>
            </a:r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−α(1 − p)</a:t>
            </a:r>
            <a:pPr indent="0" marL="0">
              <a:buNone/>
            </a:pPr>
            <a:r>
              <a:rPr lang="en-US" sz="1200" baseline="3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· log(p),     α = 0.25,  γ = 2.0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73405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 queries, ~5–15 matched indoor.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08960"/>
            <a:ext cx="64008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12724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regression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332841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L1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</a:t>
            </a:r>
            <a:pPr indent="0" marL="0">
              <a:buNone/>
            </a:pPr>
            <a:r>
              <a:rPr lang="en-US" sz="13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¹⁄₇ </a:t>
            </a:r>
            <a:pPr indent="0" marL="0">
              <a:buNone/>
            </a:pPr>
            <a:r>
              <a:rPr lang="en-US" sz="14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∑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</a:t>
            </a:r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b̂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− b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pPr indent="0" marL="0">
              <a:buNone/>
            </a:pPr>
            <a:r>
              <a:rPr lang="en-US" sz="1200" baseline="3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gt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|,     b = (</a:t>
            </a:r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x,y,z,w,l,h,θ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60273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box params. Matched queries only.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804672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977640"/>
            <a:ext cx="64008" cy="749808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995928"/>
            <a:ext cx="7589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GIoU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22960" y="41970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ℒ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giou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= 1 − 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GIoU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3D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b̂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 </a:t>
            </a:r>
            <a:pPr indent="0" marL="0">
              <a:buNone/>
            </a:pPr>
            <a:r>
              <a:rPr lang="en-US" sz="1200" i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b</a:t>
            </a:r>
            <a:pPr indent="0" marL="0">
              <a:buNone/>
            </a:pPr>
            <a:r>
              <a:rPr lang="en-US" sz="1200" baseline="-400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gt</a:t>
            </a:r>
            <a:pPr indent="0" marL="0">
              <a:buNone/>
            </a:pPr>
            <a:r>
              <a:rPr lang="en-US" sz="1200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4471416"/>
            <a:ext cx="7589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Scale-invariant. Full 3D rotated IoU.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configuration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Loss weights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77240" y="137160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λ_cls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560320" y="13716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6642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λ_L1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60320" y="16642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9568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λ_giou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195681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249424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λ_aux (per layer)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560320" y="22494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542032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DN queries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60320" y="254203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noised GTs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834640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Aux loss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8346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layers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914400"/>
            <a:ext cx="384048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37760" y="960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Optimizer &amp; schedule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13716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83480" y="1645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16459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× 10⁻⁴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1920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decay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1920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8348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75120" y="21945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→ 2 × 10⁻⁶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83480" y="24688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Warmup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246888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iters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675120" y="274320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GPU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83480" y="30175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675120" y="301752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A100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83480" y="32918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75120" y="32918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(ScanNet)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983480" y="35661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 clip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675120" y="356616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norm = 35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" y="4114800"/>
            <a:ext cx="8046720" cy="6858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14223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ScanNet (1,513 scenes, 18 classes)   |   Input: single image per scene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31520" y="4416552"/>
            <a:ext cx="7680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Augmentation: elastic distortion, 360° rotation, color drop, random flip, grid mask p = 0.3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— ScanNet benchmarks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65760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960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28016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AP@0.25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554480" y="12801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Coarse (IoU ≥ 0.25)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158191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AP@0.50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58191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(IoU ≥ 0.50)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883664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mAP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8836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across 18 classes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0233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960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(single image)</a:t>
            </a:r>
            <a:endParaRPr lang="en-US" sz="1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3840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097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AP@0.25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AP@0.50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VoteNet (point cloud)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58.6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33.5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</a:rPr>
                        <a:t>Option B (ours)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</a:rPr>
                        <a:t>~60–65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90D9"/>
                          </a:solidFill>
                        </a:rPr>
                        <a:t>~35–40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</a:rPr>
                        <a:t>Option C (ours)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</a:rPr>
                        <a:t>~58–63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D7A2D"/>
                          </a:solidFill>
                        </a:rPr>
                        <a:t>~33–38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3DETR (multi-view)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65.0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47.0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" y="265176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31520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Single-image challenges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31520" y="3063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multi-view overlap → fewer occupied voxels, noisier depth at far distances.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Occluded objects have no second-view coverage.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MapAnything’s monocular depth quality is the bottleneck — expected to improve with more training data.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input (N &gt; 1) should boost AP@0.50 by 5–10 points via view averaging.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roadmap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48640" y="100584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1005840"/>
            <a:ext cx="1188720" cy="8686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07899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(single image)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920240" y="137160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MapAnything inference on ScanNet single frames. Cache F (DPT), pts3d, conf. Build voxel scatter dataloader.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116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11680"/>
            <a:ext cx="1188720" cy="8686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208483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first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920240" y="237744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DETR decoder + linear projection. Full cross-attention over occupied voxels. Train 36 epochs.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" y="3017520"/>
            <a:ext cx="1188720" cy="868680"/>
          </a:xfrm>
          <a:prstGeom prst="rect">
            <a:avLst/>
          </a:prstGeom>
          <a:solidFill>
            <a:srgbClr val="2D7A2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089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4747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309067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+ upgrade to B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338328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AP@0.25/0.50. If multi-scale needed, add stride pooling + deformable attention.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0233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023360"/>
            <a:ext cx="1188720" cy="868680"/>
          </a:xfrm>
          <a:prstGeom prst="rect">
            <a:avLst/>
          </a:prstGeom>
          <a:solidFill>
            <a:srgbClr val="2D7A2D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1148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480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7–8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920240" y="4096512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+ ablations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20240" y="4389120"/>
            <a:ext cx="6492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 &gt; 1 views. Ablate: N, queries, layers, voxel resolution. Compare vs VoteNet, 3DETR.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52050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914400" y="1051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RGB image → metric 3D bounding boxes (no depth sensor, no multi-view)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472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MapAnything’s DPT head provides rich features + metric 3D for free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18928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 collapses height — sparse 3D voxels preserve full indoor geometry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31343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 (vanilla DETR, ~6.5M): simplest, start here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7340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 (deformable, ~7M): multi-scale via pooling, upgrade if needed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 Hungarian → focal + L1 + 3D GIoU  |  36 epochs, ~8–12h, 2× A100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1148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99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Indoor 3D Detection: Single Image → DETR on Frozen MapAnything</dc:title>
  <dc:subject>PptxGenJS Presentation</dc:subject>
  <dc:creator>Claude</dc:creator>
  <cp:lastModifiedBy>Claude</cp:lastModifiedBy>
  <cp:revision>1</cp:revision>
  <dcterms:created xsi:type="dcterms:W3CDTF">2026-04-08T23:47:14Z</dcterms:created>
  <dcterms:modified xsi:type="dcterms:W3CDTF">2026-04-08T23:47:14Z</dcterms:modified>
</cp:coreProperties>
</file>